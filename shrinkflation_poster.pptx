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2088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74320" y="164592"/>
            <a:ext cx="70134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0D366B"/>
                </a:solidFill>
                <a:latin typeface="Arial"/>
              </a:rPr>
              <a:t>Shrinkflation in Singapore's Private Homes</a:t>
            </a:r>
          </a:p>
        </p:txBody>
      </p:sp>
      <p:sp>
        <p:nvSpPr>
          <p:cNvPr id="3" name="Question"/>
          <p:cNvSpPr txBox="1"/>
          <p:nvPr/>
        </p:nvSpPr>
        <p:spPr>
          <a:xfrm>
            <a:off x="274320" y="566928"/>
            <a:ext cx="70134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B0B0B"/>
                </a:solidFill>
                <a:latin typeface="Arial"/>
              </a:rPr>
              <a:t>Did homes shrink to keep the price tag within reach, and is it still happening in 2025?</a:t>
            </a:r>
          </a:p>
        </p:txBody>
      </p:sp>
      <p:sp>
        <p:nvSpPr>
          <p:cNvPr id="4" name="Team line"/>
          <p:cNvSpPr txBox="1"/>
          <p:nvPr/>
        </p:nvSpPr>
        <p:spPr>
          <a:xfrm>
            <a:off x="274320" y="804672"/>
            <a:ext cx="7013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650" b="0">
                <a:solidFill>
                  <a:srgbClr val="6F6E69"/>
                </a:solidFill>
                <a:latin typeface="Arial"/>
              </a:rPr>
              <a:t>DAO2702 Group Assignment  ·  Team [team name]  ·  [member names]</a:t>
            </a:r>
          </a:p>
        </p:txBody>
      </p:sp>
      <p:sp>
        <p:nvSpPr>
          <p:cNvPr id="5" name="Key terms card"/>
          <p:cNvSpPr/>
          <p:nvPr/>
        </p:nvSpPr>
        <p:spPr>
          <a:xfrm>
            <a:off x="274320" y="969264"/>
            <a:ext cx="7013448" cy="978408"/>
          </a:xfrm>
          <a:prstGeom prst="roundRect">
            <a:avLst>
              <a:gd name="adj" fmla="val 4000"/>
            </a:avLst>
          </a:prstGeom>
          <a:solidFill>
            <a:srgbClr val="EE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rm Shrinkflation"/>
          <p:cNvSpPr txBox="1"/>
          <p:nvPr/>
        </p:nvSpPr>
        <p:spPr>
          <a:xfrm>
            <a:off x="393192" y="1051560"/>
            <a:ext cx="21244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80"/>
              </a:spcAft>
            </a:pPr>
            <a:r>
              <a:rPr sz="760" b="1">
                <a:solidFill>
                  <a:srgbClr val="0D366B"/>
                </a:solidFill>
                <a:latin typeface="Arial"/>
              </a:rPr>
              <a:t>Shrinkflation</a:t>
            </a:r>
          </a:p>
          <a:p>
            <a:pPr>
              <a:lnSpc>
                <a:spcPct val="105000"/>
              </a:lnSpc>
              <a:spcAft>
                <a:spcPts val="80"/>
              </a:spcAft>
            </a:pPr>
            <a:r>
              <a:rPr sz="680" b="0">
                <a:solidFill>
                  <a:srgbClr val="0B0B0B"/>
                </a:solidFill>
                <a:latin typeface="Arial"/>
              </a:rPr>
              <a:t>Less product for the same price tag. For a home: fewer sq ft for the same total price [6].</a:t>
            </a:r>
          </a:p>
        </p:txBody>
      </p:sp>
      <p:sp>
        <p:nvSpPr>
          <p:cNvPr id="7" name="Term Price tag = floor area × PSF"/>
          <p:cNvSpPr txBox="1"/>
          <p:nvPr/>
        </p:nvSpPr>
        <p:spPr>
          <a:xfrm>
            <a:off x="2718816" y="1051560"/>
            <a:ext cx="21244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80"/>
              </a:spcAft>
            </a:pPr>
            <a:r>
              <a:rPr sz="760" b="1">
                <a:solidFill>
                  <a:srgbClr val="0D366B"/>
                </a:solidFill>
                <a:latin typeface="Arial"/>
              </a:rPr>
              <a:t>Price tag = floor area × PSF</a:t>
            </a:r>
          </a:p>
          <a:p>
            <a:pPr>
              <a:lnSpc>
                <a:spcPct val="105000"/>
              </a:lnSpc>
              <a:spcAft>
                <a:spcPts val="80"/>
              </a:spcAft>
            </a:pPr>
            <a:r>
              <a:rPr sz="680" b="0">
                <a:solidFill>
                  <a:srgbClr val="0B0B0B"/>
                </a:solidFill>
                <a:latin typeface="Arial"/>
              </a:rPr>
              <a:t>PSF is the price per square foot. When PSF rises, a smaller unit keeps the price tag flat.</a:t>
            </a:r>
          </a:p>
        </p:txBody>
      </p:sp>
      <p:sp>
        <p:nvSpPr>
          <p:cNvPr id="8" name="Term New launch vs resale"/>
          <p:cNvSpPr txBox="1"/>
          <p:nvPr/>
        </p:nvSpPr>
        <p:spPr>
          <a:xfrm>
            <a:off x="5044440" y="1051560"/>
            <a:ext cx="21244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80"/>
              </a:spcAft>
            </a:pPr>
            <a:r>
              <a:rPr sz="760" b="1">
                <a:solidFill>
                  <a:srgbClr val="0D366B"/>
                </a:solidFill>
                <a:latin typeface="Arial"/>
              </a:rPr>
              <a:t>New launch vs resale</a:t>
            </a:r>
          </a:p>
          <a:p>
            <a:pPr>
              <a:lnSpc>
                <a:spcPct val="105000"/>
              </a:lnSpc>
              <a:spcAft>
                <a:spcPts val="80"/>
              </a:spcAft>
            </a:pPr>
            <a:r>
              <a:rPr sz="680" b="0">
                <a:solidFill>
                  <a:srgbClr val="0B0B0B"/>
                </a:solidFill>
                <a:latin typeface="Arial"/>
              </a:rPr>
              <a:t>A new launch is bought from the developer. A resale home is second-hand.</a:t>
            </a:r>
          </a:p>
        </p:txBody>
      </p:sp>
      <p:sp>
        <p:nvSpPr>
          <p:cNvPr id="9" name="Term Lease-start year"/>
          <p:cNvSpPr txBox="1"/>
          <p:nvPr/>
        </p:nvSpPr>
        <p:spPr>
          <a:xfrm>
            <a:off x="393192" y="1472184"/>
            <a:ext cx="21244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80"/>
              </a:spcAft>
            </a:pPr>
            <a:r>
              <a:rPr sz="760" b="1">
                <a:solidFill>
                  <a:srgbClr val="0D366B"/>
                </a:solidFill>
                <a:latin typeface="Arial"/>
              </a:rPr>
              <a:t>Lease-start year</a:t>
            </a:r>
          </a:p>
          <a:p>
            <a:pPr>
              <a:lnSpc>
                <a:spcPct val="105000"/>
              </a:lnSpc>
              <a:spcAft>
                <a:spcPts val="80"/>
              </a:spcAft>
            </a:pPr>
            <a:r>
              <a:rPr sz="680" b="0">
                <a:solidFill>
                  <a:srgbClr val="0B0B0B"/>
                </a:solidFill>
                <a:latin typeface="Arial"/>
              </a:rPr>
              <a:t>When a 99-year lease began, roughly the year the land was sold and the unit sizes were planned.</a:t>
            </a:r>
          </a:p>
        </p:txBody>
      </p:sp>
      <p:sp>
        <p:nvSpPr>
          <p:cNvPr id="10" name="Term URA unit cap"/>
          <p:cNvSpPr txBox="1"/>
          <p:nvPr/>
        </p:nvSpPr>
        <p:spPr>
          <a:xfrm>
            <a:off x="2718816" y="1472184"/>
            <a:ext cx="21244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80"/>
              </a:spcAft>
            </a:pPr>
            <a:r>
              <a:rPr sz="760" b="1">
                <a:solidFill>
                  <a:srgbClr val="0D366B"/>
                </a:solidFill>
                <a:latin typeface="Arial"/>
              </a:rPr>
              <a:t>URA unit cap</a:t>
            </a:r>
          </a:p>
          <a:p>
            <a:pPr>
              <a:lnSpc>
                <a:spcPct val="105000"/>
              </a:lnSpc>
              <a:spcAft>
                <a:spcPts val="80"/>
              </a:spcAft>
            </a:pPr>
            <a:r>
              <a:rPr sz="680" b="0">
                <a:solidFill>
                  <a:srgbClr val="0B0B0B"/>
                </a:solidFill>
                <a:latin typeface="Arial"/>
              </a:rPr>
              <a:t>Since 2012 a project's unit count is capped at floor area ÷ 70 m² (85 m² since 2019), which sets a floor under unit sizes [5].</a:t>
            </a:r>
          </a:p>
        </p:txBody>
      </p:sp>
      <p:sp>
        <p:nvSpPr>
          <p:cNvPr id="11" name="Term MAS loan limit"/>
          <p:cNvSpPr txBox="1"/>
          <p:nvPr/>
        </p:nvSpPr>
        <p:spPr>
          <a:xfrm>
            <a:off x="5044440" y="1472184"/>
            <a:ext cx="212445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80"/>
              </a:spcAft>
            </a:pPr>
            <a:r>
              <a:rPr sz="760" b="1">
                <a:solidFill>
                  <a:srgbClr val="0D366B"/>
                </a:solidFill>
                <a:latin typeface="Arial"/>
              </a:rPr>
              <a:t>MAS loan limit</a:t>
            </a:r>
          </a:p>
          <a:p>
            <a:pPr>
              <a:lnSpc>
                <a:spcPct val="105000"/>
              </a:lnSpc>
              <a:spcAft>
                <a:spcPts val="80"/>
              </a:spcAft>
            </a:pPr>
            <a:r>
              <a:rPr sz="680" b="0">
                <a:solidFill>
                  <a:srgbClr val="0B0B0B"/>
                </a:solidFill>
                <a:latin typeface="Arial"/>
              </a:rPr>
              <a:t>Loan repayments can take at most 55% of income, tested at 4% interest or more [4].</a:t>
            </a:r>
          </a:p>
        </p:txBody>
      </p:sp>
      <p:sp>
        <p:nvSpPr>
          <p:cNvPr id="12" name="Row 1 label"/>
          <p:cNvSpPr txBox="1"/>
          <p:nvPr/>
        </p:nvSpPr>
        <p:spPr>
          <a:xfrm>
            <a:off x="274320" y="2011679"/>
            <a:ext cx="701344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00" b="1">
                <a:solidFill>
                  <a:srgbClr val="1C5CAB"/>
                </a:solidFill>
                <a:latin typeface="Arial"/>
              </a:rPr>
              <a:t>1   WHAT SHRANK</a:t>
            </a:r>
          </a:p>
        </p:txBody>
      </p:sp>
      <p:sp>
        <p:nvSpPr>
          <p:cNvPr id="13" name="Panel 1 card"/>
          <p:cNvSpPr/>
          <p:nvPr/>
        </p:nvSpPr>
        <p:spPr>
          <a:xfrm>
            <a:off x="274320" y="2203703"/>
            <a:ext cx="2252472" cy="21945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anel 1 number"/>
          <p:cNvSpPr/>
          <p:nvPr/>
        </p:nvSpPr>
        <p:spPr>
          <a:xfrm>
            <a:off x="347472" y="2295144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Panel 1 takeaway"/>
          <p:cNvSpPr txBox="1"/>
          <p:nvPr/>
        </p:nvSpPr>
        <p:spPr>
          <a:xfrm>
            <a:off x="612647" y="2249423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New launches are 21% smaller than resale homes</a:t>
            </a:r>
          </a:p>
        </p:txBody>
      </p:sp>
      <p:pic>
        <p:nvPicPr>
          <p:cNvPr id="16" name="Panel 1 figure" descr="01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564" y="2578607"/>
            <a:ext cx="2157984" cy="1783080"/>
          </a:xfrm>
          <a:prstGeom prst="rect">
            <a:avLst/>
          </a:prstGeom>
        </p:spPr>
      </p:pic>
      <p:sp>
        <p:nvSpPr>
          <p:cNvPr id="17" name="Panel 2 card"/>
          <p:cNvSpPr/>
          <p:nvPr/>
        </p:nvSpPr>
        <p:spPr>
          <a:xfrm>
            <a:off x="2654808" y="2203703"/>
            <a:ext cx="2252472" cy="21945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anel 2 number"/>
          <p:cNvSpPr/>
          <p:nvPr/>
        </p:nvSpPr>
        <p:spPr>
          <a:xfrm>
            <a:off x="2727960" y="2295144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Panel 2 takeaway"/>
          <p:cNvSpPr txBox="1"/>
          <p:nvPr/>
        </p:nvSpPr>
        <p:spPr>
          <a:xfrm>
            <a:off x="2993136" y="2249423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Homes shrank 43% for land sold after 2008</a:t>
            </a:r>
          </a:p>
        </p:txBody>
      </p:sp>
      <p:pic>
        <p:nvPicPr>
          <p:cNvPr id="20" name="Panel 2 figure" descr="02_line_vint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2052" y="2578607"/>
            <a:ext cx="2157984" cy="1783080"/>
          </a:xfrm>
          <a:prstGeom prst="rect">
            <a:avLst/>
          </a:prstGeom>
        </p:spPr>
      </p:pic>
      <p:sp>
        <p:nvSpPr>
          <p:cNvPr id="21" name="Panel 3 card"/>
          <p:cNvSpPr/>
          <p:nvPr/>
        </p:nvSpPr>
        <p:spPr>
          <a:xfrm>
            <a:off x="5035296" y="2203703"/>
            <a:ext cx="2252472" cy="21945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Panel 3 number"/>
          <p:cNvSpPr/>
          <p:nvPr/>
        </p:nvSpPr>
        <p:spPr>
          <a:xfrm>
            <a:off x="5108448" y="2295144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Panel 3 takeaway"/>
          <p:cNvSpPr txBox="1"/>
          <p:nvPr/>
        </p:nvSpPr>
        <p:spPr>
          <a:xfrm>
            <a:off x="5373624" y="2249423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Shoeboxes rose from 1% to 13%, big homes fell from 34% to 8%</a:t>
            </a:r>
          </a:p>
        </p:txBody>
      </p:sp>
      <p:pic>
        <p:nvPicPr>
          <p:cNvPr id="24" name="Panel 3 figure" descr="03_stacked_m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2540" y="2578607"/>
            <a:ext cx="2157984" cy="1783080"/>
          </a:xfrm>
          <a:prstGeom prst="rect">
            <a:avLst/>
          </a:prstGeom>
        </p:spPr>
      </p:pic>
      <p:sp>
        <p:nvSpPr>
          <p:cNvPr id="25" name="Row 2 label"/>
          <p:cNvSpPr txBox="1"/>
          <p:nvPr/>
        </p:nvSpPr>
        <p:spPr>
          <a:xfrm>
            <a:off x="274320" y="4453127"/>
            <a:ext cx="701344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00" b="1">
                <a:solidFill>
                  <a:srgbClr val="1C5CAB"/>
                </a:solidFill>
                <a:latin typeface="Arial"/>
              </a:rPr>
              <a:t>2   IS IT REAL, AND HOW DOES IT WORK?</a:t>
            </a:r>
          </a:p>
        </p:txBody>
      </p:sp>
      <p:sp>
        <p:nvSpPr>
          <p:cNvPr id="26" name="Panel 4 card"/>
          <p:cNvSpPr/>
          <p:nvPr/>
        </p:nvSpPr>
        <p:spPr>
          <a:xfrm>
            <a:off x="274320" y="4645151"/>
            <a:ext cx="2252472" cy="21945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Panel 4 number"/>
          <p:cNvSpPr/>
          <p:nvPr/>
        </p:nvSpPr>
        <p:spPr>
          <a:xfrm>
            <a:off x="347472" y="4736591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Panel 4 takeaway"/>
          <p:cNvSpPr txBox="1"/>
          <p:nvPr/>
        </p:nvSpPr>
        <p:spPr>
          <a:xfrm>
            <a:off x="612647" y="4690871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Within the same district the gap stays at −34%</a:t>
            </a:r>
          </a:p>
        </p:txBody>
      </p:sp>
      <p:pic>
        <p:nvPicPr>
          <p:cNvPr id="29" name="Panel 4 figure" descr="04_coefficien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564" y="5020055"/>
            <a:ext cx="2157984" cy="1783080"/>
          </a:xfrm>
          <a:prstGeom prst="rect">
            <a:avLst/>
          </a:prstGeom>
        </p:spPr>
      </p:pic>
      <p:sp>
        <p:nvSpPr>
          <p:cNvPr id="30" name="Panel 5 card"/>
          <p:cNvSpPr/>
          <p:nvPr/>
        </p:nvSpPr>
        <p:spPr>
          <a:xfrm>
            <a:off x="2654808" y="4645151"/>
            <a:ext cx="2252472" cy="21945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Panel 5 number"/>
          <p:cNvSpPr/>
          <p:nvPr/>
        </p:nvSpPr>
        <p:spPr>
          <a:xfrm>
            <a:off x="2727960" y="4736591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Panel 5 takeaway"/>
          <p:cNvSpPr txBox="1"/>
          <p:nvPr/>
        </p:nvSpPr>
        <p:spPr>
          <a:xfrm>
            <a:off x="2993136" y="4690871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Shrinking cut prices to S$1.45M; after 2019 they jump to S$2.05M</a:t>
            </a:r>
          </a:p>
        </p:txBody>
      </p:sp>
      <p:pic>
        <p:nvPicPr>
          <p:cNvPr id="33" name="Panel 5 figure" descr="05_scatter_isopri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2052" y="5020055"/>
            <a:ext cx="2157984" cy="1783080"/>
          </a:xfrm>
          <a:prstGeom prst="rect">
            <a:avLst/>
          </a:prstGeom>
        </p:spPr>
      </p:pic>
      <p:sp>
        <p:nvSpPr>
          <p:cNvPr id="34" name="Panel 6 card"/>
          <p:cNvSpPr/>
          <p:nvPr/>
        </p:nvSpPr>
        <p:spPr>
          <a:xfrm>
            <a:off x="5035296" y="4645151"/>
            <a:ext cx="2252472" cy="21945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Panel 6 number"/>
          <p:cNvSpPr/>
          <p:nvPr/>
        </p:nvSpPr>
        <p:spPr>
          <a:xfrm>
            <a:off x="5108448" y="4736591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Panel 6 takeaway"/>
          <p:cNvSpPr txBox="1"/>
          <p:nvPr/>
        </p:nvSpPr>
        <p:spPr>
          <a:xfrm>
            <a:off x="5373624" y="4690871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Every unit size sells at its project's PSF, within 1.5%</a:t>
            </a:r>
          </a:p>
        </p:txBody>
      </p:sp>
      <p:pic>
        <p:nvPicPr>
          <p:cNvPr id="37" name="Panel 6 figure" descr="06_violin_pricin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82540" y="5020055"/>
            <a:ext cx="2157984" cy="1783080"/>
          </a:xfrm>
          <a:prstGeom prst="rect">
            <a:avLst/>
          </a:prstGeom>
        </p:spPr>
      </p:pic>
      <p:sp>
        <p:nvSpPr>
          <p:cNvPr id="38" name="Row 3 label"/>
          <p:cNvSpPr txBox="1"/>
          <p:nvPr/>
        </p:nvSpPr>
        <p:spPr>
          <a:xfrm>
            <a:off x="274320" y="6894575"/>
            <a:ext cx="701344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00" b="1">
                <a:solidFill>
                  <a:srgbClr val="1C5CAB"/>
                </a:solidFill>
                <a:latin typeface="Arial"/>
              </a:rPr>
              <a:t>3   WHY IT HAPPENED, AND WHAT CHANGED</a:t>
            </a:r>
          </a:p>
        </p:txBody>
      </p:sp>
      <p:sp>
        <p:nvSpPr>
          <p:cNvPr id="39" name="Panel 7 card"/>
          <p:cNvSpPr/>
          <p:nvPr/>
        </p:nvSpPr>
        <p:spPr>
          <a:xfrm>
            <a:off x="274320" y="7086599"/>
            <a:ext cx="2252472" cy="21945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Panel 7 number"/>
          <p:cNvSpPr/>
          <p:nvPr/>
        </p:nvSpPr>
        <p:spPr>
          <a:xfrm>
            <a:off x="347472" y="7178039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Panel 7 takeaway"/>
          <p:cNvSpPr txBox="1"/>
          <p:nvPr/>
        </p:nvSpPr>
        <p:spPr>
          <a:xfrm>
            <a:off x="612647" y="7132319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Least affordable in 2007–13, when that land was sold</a:t>
            </a:r>
          </a:p>
        </p:txBody>
      </p:sp>
      <p:pic>
        <p:nvPicPr>
          <p:cNvPr id="42" name="Panel 7 figure" descr="07_lollipop_macr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1564" y="7461503"/>
            <a:ext cx="2157984" cy="1783080"/>
          </a:xfrm>
          <a:prstGeom prst="rect">
            <a:avLst/>
          </a:prstGeom>
        </p:spPr>
      </p:pic>
      <p:sp>
        <p:nvSpPr>
          <p:cNvPr id="43" name="Panel 8 card"/>
          <p:cNvSpPr/>
          <p:nvPr/>
        </p:nvSpPr>
        <p:spPr>
          <a:xfrm>
            <a:off x="2654808" y="7086599"/>
            <a:ext cx="2252472" cy="21945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Panel 8 number"/>
          <p:cNvSpPr/>
          <p:nvPr/>
        </p:nvSpPr>
        <p:spPr>
          <a:xfrm>
            <a:off x="2727960" y="7178039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5" name="Panel 8 takeaway"/>
          <p:cNvSpPr txBox="1"/>
          <p:nvPr/>
        </p:nvSpPr>
        <p:spPr>
          <a:xfrm>
            <a:off x="2993136" y="7132319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The median household can borrow for under 800 sq ft</a:t>
            </a:r>
          </a:p>
        </p:txBody>
      </p:sp>
      <p:pic>
        <p:nvPicPr>
          <p:cNvPr id="46" name="Panel 8 figure" descr="08_heatmap_tds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02052" y="7461503"/>
            <a:ext cx="2157984" cy="1783080"/>
          </a:xfrm>
          <a:prstGeom prst="rect">
            <a:avLst/>
          </a:prstGeom>
        </p:spPr>
      </p:pic>
      <p:sp>
        <p:nvSpPr>
          <p:cNvPr id="47" name="Panel 9 card"/>
          <p:cNvSpPr/>
          <p:nvPr/>
        </p:nvSpPr>
        <p:spPr>
          <a:xfrm>
            <a:off x="5035296" y="7086599"/>
            <a:ext cx="2252472" cy="2194560"/>
          </a:xfrm>
          <a:prstGeom prst="roundRect">
            <a:avLst>
              <a:gd name="adj" fmla="val 4000"/>
            </a:avLst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Panel 9 number"/>
          <p:cNvSpPr/>
          <p:nvPr/>
        </p:nvSpPr>
        <p:spPr>
          <a:xfrm>
            <a:off x="5108448" y="7178039"/>
            <a:ext cx="201168" cy="201168"/>
          </a:xfrm>
          <a:prstGeom prst="ellipse">
            <a:avLst/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49" name="Panel 9 takeaway"/>
          <p:cNvSpPr txBox="1"/>
          <p:nvPr/>
        </p:nvSpPr>
        <p:spPr>
          <a:xfrm>
            <a:off x="5373624" y="7132319"/>
            <a:ext cx="184099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80" b="1">
                <a:solidFill>
                  <a:srgbClr val="0B0B0B"/>
                </a:solidFill>
                <a:latin typeface="Arial"/>
              </a:rPr>
              <a:t>Price tag S$1.46M → S$2.18M, driven by PSF (+39%)</a:t>
            </a:r>
          </a:p>
        </p:txBody>
      </p:sp>
      <p:pic>
        <p:nvPicPr>
          <p:cNvPr id="50" name="Panel 9 figure" descr="09_waterfal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82540" y="7461503"/>
            <a:ext cx="2157984" cy="1783080"/>
          </a:xfrm>
          <a:prstGeom prst="rect">
            <a:avLst/>
          </a:prstGeom>
        </p:spPr>
      </p:pic>
      <p:sp>
        <p:nvSpPr>
          <p:cNvPr id="51" name="Answer card"/>
          <p:cNvSpPr/>
          <p:nvPr/>
        </p:nvSpPr>
        <p:spPr>
          <a:xfrm>
            <a:off x="274320" y="9363455"/>
            <a:ext cx="7013448" cy="896112"/>
          </a:xfrm>
          <a:prstGeom prst="roundRect">
            <a:avLst>
              <a:gd name="adj" fmla="val 4000"/>
            </a:avLst>
          </a:prstGeom>
          <a:solidFill>
            <a:srgbClr val="0D3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Answer line"/>
          <p:cNvSpPr txBox="1"/>
          <p:nvPr/>
        </p:nvSpPr>
        <p:spPr>
          <a:xfrm>
            <a:off x="420623" y="9436607"/>
            <a:ext cx="6720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919" b="1">
                <a:solidFill>
                  <a:srgbClr val="F7B89C"/>
                </a:solidFill>
                <a:latin typeface="Arial"/>
              </a:rPr>
              <a:t>Answer: </a:t>
            </a:r>
            <a:r>
              <a:rPr sz="919" b="1">
                <a:solidFill>
                  <a:srgbClr val="FFFFFF"/>
                </a:solidFill>
                <a:latin typeface="Arial"/>
              </a:rPr>
              <a:t>yes, until URA stopped it. Homes shrank about 40% to hold the price tag down. Now that shrinking is capped, the price tag rises instead.</a:t>
            </a:r>
          </a:p>
        </p:txBody>
      </p:sp>
      <p:sp>
        <p:nvSpPr>
          <p:cNvPr id="53" name="Finding 1 number"/>
          <p:cNvSpPr/>
          <p:nvPr/>
        </p:nvSpPr>
        <p:spPr>
          <a:xfrm>
            <a:off x="420623" y="9848087"/>
            <a:ext cx="182880" cy="18288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4" name="Finding 1"/>
          <p:cNvSpPr txBox="1"/>
          <p:nvPr/>
        </p:nvSpPr>
        <p:spPr>
          <a:xfrm>
            <a:off x="676656" y="9820655"/>
            <a:ext cx="18623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20" b="0">
                <a:solidFill>
                  <a:srgbClr val="FFFFFF"/>
                </a:solidFill>
                <a:latin typeface="Arial"/>
              </a:rPr>
              <a:t>Homes on land sold after 2008 are about 40% smaller, and big homes all but disappeared</a:t>
            </a:r>
          </a:p>
        </p:txBody>
      </p:sp>
      <p:sp>
        <p:nvSpPr>
          <p:cNvPr id="55" name="Finding 2 number"/>
          <p:cNvSpPr/>
          <p:nvPr/>
        </p:nvSpPr>
        <p:spPr>
          <a:xfrm>
            <a:off x="2721864" y="9848087"/>
            <a:ext cx="182880" cy="18288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6" name="Finding 2"/>
          <p:cNvSpPr txBox="1"/>
          <p:nvPr/>
        </p:nvSpPr>
        <p:spPr>
          <a:xfrm>
            <a:off x="2977896" y="9820655"/>
            <a:ext cx="18623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20" b="0">
                <a:solidFill>
                  <a:srgbClr val="FFFFFF"/>
                </a:solidFill>
                <a:latin typeface="Arial"/>
              </a:rPr>
              <a:t>It is not location. It works because a launch is priced per sq ft, so fewer sq ft means a lower price tag</a:t>
            </a:r>
          </a:p>
        </p:txBody>
      </p:sp>
      <p:sp>
        <p:nvSpPr>
          <p:cNvPr id="57" name="Finding 3 number"/>
          <p:cNvSpPr/>
          <p:nvPr/>
        </p:nvSpPr>
        <p:spPr>
          <a:xfrm>
            <a:off x="5023104" y="9848087"/>
            <a:ext cx="182880" cy="18288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8" name="Finding 3"/>
          <p:cNvSpPr txBox="1"/>
          <p:nvPr/>
        </p:nvSpPr>
        <p:spPr>
          <a:xfrm>
            <a:off x="5279136" y="9820655"/>
            <a:ext cx="1862327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20" b="0">
                <a:solidFill>
                  <a:srgbClr val="FFFFFF"/>
                </a:solidFill>
                <a:latin typeface="Arial"/>
              </a:rPr>
              <a:t>Prices outran incomes when that land was sold. Since the 2019 cap the new-launch price tag is up 49%</a:t>
            </a:r>
          </a:p>
        </p:txBody>
      </p:sp>
      <p:sp>
        <p:nvSpPr>
          <p:cNvPr id="59" name="Footnote"/>
          <p:cNvSpPr txBox="1"/>
          <p:nvPr/>
        </p:nvSpPr>
        <p:spPr>
          <a:xfrm>
            <a:off x="274320" y="10314432"/>
            <a:ext cx="7013448" cy="265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500" b="1">
                <a:solidFill>
                  <a:srgbClr val="6F6E69"/>
                </a:solidFill>
                <a:latin typeface="Arial"/>
              </a:rPr>
              <a:t>Data and method: </a:t>
            </a:r>
            <a:r>
              <a:rPr sz="500" b="0">
                <a:solidFill>
                  <a:srgbClr val="6F6E69"/>
                </a:solidFill>
                <a:latin typeface="Arial"/>
              </a:rPr>
              <a:t>24,131 URA private home sales in 2025 and 74,436 from Aug 2020 to Dec 2023 [1]; 155 rows outside 200–5,000 sq ft removed. Charts 2–5 use 99-year leaseholds grouped by lease-start year. Chart 7 uses the URA price index [2] and SingStat household income [3]; chart 8 applies MAS loan rules [4]. </a:t>
            </a:r>
            <a:r>
              <a:rPr sz="500" b="1">
                <a:solidFill>
                  <a:srgbClr val="6F6E69"/>
                </a:solidFill>
                <a:latin typeface="Arial"/>
              </a:rPr>
              <a:t>Limitations: </a:t>
            </a:r>
            <a:r>
              <a:rPr sz="500" b="0">
                <a:solidFill>
                  <a:srgbClr val="6F6E69"/>
                </a:solidFill>
                <a:latin typeface="Arial"/>
              </a:rPr>
              <a:t>eras are compared at 2025 prices, so older homes also carry age and lease decay; no bedroom count; 2024 missing; associations, not causal effects.</a:t>
            </a:r>
          </a:p>
          <a:p>
            <a:pPr>
              <a:lnSpc>
                <a:spcPct val="105000"/>
              </a:lnSpc>
              <a:spcAft>
                <a:spcPts val="100"/>
              </a:spcAft>
            </a:pPr>
            <a:r>
              <a:rPr sz="500" b="1">
                <a:solidFill>
                  <a:srgbClr val="6F6E69"/>
                </a:solidFill>
                <a:latin typeface="Arial"/>
              </a:rPr>
              <a:t>Sources: </a:t>
            </a:r>
            <a:r>
              <a:rPr sz="500" b="0">
                <a:solidFill>
                  <a:srgbClr val="6F6E69"/>
                </a:solidFill>
                <a:latin typeface="Arial"/>
              </a:rPr>
              <a:t>[1] URA REALIS via DAO2702 (2025; Lecture 6, 2020–23). [2] URA Private Residential Price Index, data.gov.sg. [3] SingStat household income, data.gov.sg. [4] MAS: TDSR 55%, 4% stress rate. [5] URA circular DC18-06 (2018). [6] ONS (2019), shrinkflation and CPIH. Code: shrinkflation.ipynb.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