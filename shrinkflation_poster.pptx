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74320" y="164592"/>
            <a:ext cx="70134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0D366B"/>
                </a:solidFill>
                <a:latin typeface="Arial"/>
              </a:rPr>
              <a:t>Shrinkflation in Singapore's Private Homes</a:t>
            </a:r>
          </a:p>
        </p:txBody>
      </p:sp>
      <p:sp>
        <p:nvSpPr>
          <p:cNvPr id="3" name="Team line"/>
          <p:cNvSpPr txBox="1"/>
          <p:nvPr/>
        </p:nvSpPr>
        <p:spPr>
          <a:xfrm>
            <a:off x="274320" y="548640"/>
            <a:ext cx="70134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>
                <a:solidFill>
                  <a:srgbClr val="6F6E69"/>
                </a:solidFill>
                <a:latin typeface="Arial"/>
              </a:rPr>
              <a:t>DAO2702 Group Assignment  ·  Team Jupyter  ·  Martin, Huaitao, Manan, Linda, Midhvan, Hoyoung</a:t>
            </a:r>
          </a:p>
        </p:txBody>
      </p:sp>
      <p:sp>
        <p:nvSpPr>
          <p:cNvPr id="4" name="Question"/>
          <p:cNvSpPr txBox="1"/>
          <p:nvPr/>
        </p:nvSpPr>
        <p:spPr>
          <a:xfrm>
            <a:off x="274320" y="731520"/>
            <a:ext cx="7013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Arial"/>
              </a:rPr>
              <a:t>Did homes shrink to keep the price tag within reach, and is it still happening in 2025?</a:t>
            </a:r>
          </a:p>
        </p:txBody>
      </p:sp>
      <p:sp>
        <p:nvSpPr>
          <p:cNvPr id="5" name="Terms line"/>
          <p:cNvSpPr txBox="1"/>
          <p:nvPr/>
        </p:nvSpPr>
        <p:spPr>
          <a:xfrm>
            <a:off x="274320" y="1005840"/>
            <a:ext cx="7013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20" b="0">
                <a:solidFill>
                  <a:srgbClr val="8F8E89"/>
                </a:solidFill>
                <a:latin typeface="Arial"/>
              </a:rPr>
              <a:t>Shrinkflation: less product for the same price tag [6]   ·   PSF: price per sq ft, so price tag = floor area × PSF   ·   Lease-start year ≈ year the land was sold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20" b="0">
                <a:solidFill>
                  <a:srgbClr val="8F8E89"/>
                </a:solidFill>
                <a:latin typeface="Arial"/>
              </a:rPr>
              <a:t>URA unit cap: units ≤ floor area ÷ 70 m² (85 m² from 2019) [5]   ·   MAS limit: loan repayments ≤ 55% of income, tested at 4% [4]</a:t>
            </a:r>
          </a:p>
        </p:txBody>
      </p:sp>
      <p:sp>
        <p:nvSpPr>
          <p:cNvPr id="6" name="Row 1 label"/>
          <p:cNvSpPr txBox="1"/>
          <p:nvPr/>
        </p:nvSpPr>
        <p:spPr>
          <a:xfrm>
            <a:off x="274320" y="1289304"/>
            <a:ext cx="70134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00" b="1">
                <a:solidFill>
                  <a:srgbClr val="1C5CAB"/>
                </a:solidFill>
                <a:latin typeface="Arial"/>
              </a:rPr>
              <a:t>1   WHAT SHRANK</a:t>
            </a:r>
          </a:p>
        </p:txBody>
      </p:sp>
      <p:sp>
        <p:nvSpPr>
          <p:cNvPr id="7" name="Panel 1 card"/>
          <p:cNvSpPr/>
          <p:nvPr/>
        </p:nvSpPr>
        <p:spPr>
          <a:xfrm>
            <a:off x="274320" y="1481328"/>
            <a:ext cx="2252472" cy="242316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1 number"/>
          <p:cNvSpPr/>
          <p:nvPr/>
        </p:nvSpPr>
        <p:spPr>
          <a:xfrm>
            <a:off x="347472" y="1572768"/>
            <a:ext cx="201168" cy="201168"/>
          </a:xfrm>
          <a:prstGeom prst="ellipse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Panel 1 takeaway"/>
          <p:cNvSpPr txBox="1"/>
          <p:nvPr/>
        </p:nvSpPr>
        <p:spPr>
          <a:xfrm>
            <a:off x="612647" y="1527048"/>
            <a:ext cx="18409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80" b="1">
                <a:solidFill>
                  <a:srgbClr val="0B0B0B"/>
                </a:solidFill>
                <a:latin typeface="Arial"/>
              </a:rPr>
              <a:t>New launches are 21% smaller than resale homes</a:t>
            </a:r>
          </a:p>
        </p:txBody>
      </p:sp>
      <p:pic>
        <p:nvPicPr>
          <p:cNvPr id="10" name="Panel 1 figure" descr="01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64" y="1856232"/>
            <a:ext cx="2157984" cy="2011680"/>
          </a:xfrm>
          <a:prstGeom prst="rect">
            <a:avLst/>
          </a:prstGeom>
        </p:spPr>
      </p:pic>
      <p:sp>
        <p:nvSpPr>
          <p:cNvPr id="11" name="Panel 2 card"/>
          <p:cNvSpPr/>
          <p:nvPr/>
        </p:nvSpPr>
        <p:spPr>
          <a:xfrm>
            <a:off x="2654808" y="1481328"/>
            <a:ext cx="2252472" cy="242316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 2 number"/>
          <p:cNvSpPr/>
          <p:nvPr/>
        </p:nvSpPr>
        <p:spPr>
          <a:xfrm>
            <a:off x="2727960" y="1572768"/>
            <a:ext cx="201168" cy="201168"/>
          </a:xfrm>
          <a:prstGeom prst="ellipse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Panel 2 takeaway"/>
          <p:cNvSpPr txBox="1"/>
          <p:nvPr/>
        </p:nvSpPr>
        <p:spPr>
          <a:xfrm>
            <a:off x="2993136" y="1527048"/>
            <a:ext cx="18409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80" b="1">
                <a:solidFill>
                  <a:srgbClr val="0B0B0B"/>
                </a:solidFill>
                <a:latin typeface="Arial"/>
              </a:rPr>
              <a:t>Homes shrank 43% for land sold after 2008</a:t>
            </a:r>
          </a:p>
        </p:txBody>
      </p:sp>
      <p:pic>
        <p:nvPicPr>
          <p:cNvPr id="14" name="Panel 2 figure" descr="02_line_vin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052" y="1856232"/>
            <a:ext cx="2157984" cy="2011680"/>
          </a:xfrm>
          <a:prstGeom prst="rect">
            <a:avLst/>
          </a:prstGeom>
        </p:spPr>
      </p:pic>
      <p:sp>
        <p:nvSpPr>
          <p:cNvPr id="15" name="Panel 3 card"/>
          <p:cNvSpPr/>
          <p:nvPr/>
        </p:nvSpPr>
        <p:spPr>
          <a:xfrm>
            <a:off x="5035296" y="1481328"/>
            <a:ext cx="2252472" cy="242316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 3 number"/>
          <p:cNvSpPr/>
          <p:nvPr/>
        </p:nvSpPr>
        <p:spPr>
          <a:xfrm>
            <a:off x="5108448" y="1572768"/>
            <a:ext cx="201168" cy="201168"/>
          </a:xfrm>
          <a:prstGeom prst="ellipse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Panel 3 takeaway"/>
          <p:cNvSpPr txBox="1"/>
          <p:nvPr/>
        </p:nvSpPr>
        <p:spPr>
          <a:xfrm>
            <a:off x="5373624" y="1527048"/>
            <a:ext cx="18409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80" b="1">
                <a:solidFill>
                  <a:srgbClr val="0B0B0B"/>
                </a:solidFill>
                <a:latin typeface="Arial"/>
              </a:rPr>
              <a:t>Shoeboxes rose from 1% to 13%, big homes fell from 34% to 8%</a:t>
            </a:r>
          </a:p>
        </p:txBody>
      </p:sp>
      <p:pic>
        <p:nvPicPr>
          <p:cNvPr id="18" name="Panel 3 figure" descr="03_stacked_m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540" y="1856232"/>
            <a:ext cx="2157984" cy="2011680"/>
          </a:xfrm>
          <a:prstGeom prst="rect">
            <a:avLst/>
          </a:prstGeom>
        </p:spPr>
      </p:pic>
      <p:sp>
        <p:nvSpPr>
          <p:cNvPr id="19" name="Row 2 label"/>
          <p:cNvSpPr txBox="1"/>
          <p:nvPr/>
        </p:nvSpPr>
        <p:spPr>
          <a:xfrm>
            <a:off x="274320" y="3959351"/>
            <a:ext cx="70134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00" b="1">
                <a:solidFill>
                  <a:srgbClr val="1C5CAB"/>
                </a:solidFill>
                <a:latin typeface="Arial"/>
              </a:rPr>
              <a:t>2   IS IT REAL, AND HOW DOES IT WORK?</a:t>
            </a:r>
          </a:p>
        </p:txBody>
      </p:sp>
      <p:sp>
        <p:nvSpPr>
          <p:cNvPr id="20" name="Panel 4 card"/>
          <p:cNvSpPr/>
          <p:nvPr/>
        </p:nvSpPr>
        <p:spPr>
          <a:xfrm>
            <a:off x="274320" y="4151375"/>
            <a:ext cx="2252472" cy="242316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nel 4 number"/>
          <p:cNvSpPr/>
          <p:nvPr/>
        </p:nvSpPr>
        <p:spPr>
          <a:xfrm>
            <a:off x="347472" y="4242815"/>
            <a:ext cx="201168" cy="201168"/>
          </a:xfrm>
          <a:prstGeom prst="ellipse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Panel 4 takeaway"/>
          <p:cNvSpPr txBox="1"/>
          <p:nvPr/>
        </p:nvSpPr>
        <p:spPr>
          <a:xfrm>
            <a:off x="612647" y="4197095"/>
            <a:ext cx="18409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80" b="1">
                <a:solidFill>
                  <a:srgbClr val="0B0B0B"/>
                </a:solidFill>
                <a:latin typeface="Arial"/>
              </a:rPr>
              <a:t>Within the same district the gap stays at −34%</a:t>
            </a:r>
          </a:p>
        </p:txBody>
      </p:sp>
      <p:pic>
        <p:nvPicPr>
          <p:cNvPr id="23" name="Panel 4 figure" descr="04_coeffici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564" y="4526279"/>
            <a:ext cx="2157984" cy="2011680"/>
          </a:xfrm>
          <a:prstGeom prst="rect">
            <a:avLst/>
          </a:prstGeom>
        </p:spPr>
      </p:pic>
      <p:sp>
        <p:nvSpPr>
          <p:cNvPr id="24" name="Panel 5 card"/>
          <p:cNvSpPr/>
          <p:nvPr/>
        </p:nvSpPr>
        <p:spPr>
          <a:xfrm>
            <a:off x="2654808" y="4151375"/>
            <a:ext cx="2252472" cy="242316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nel 5 number"/>
          <p:cNvSpPr/>
          <p:nvPr/>
        </p:nvSpPr>
        <p:spPr>
          <a:xfrm>
            <a:off x="2727960" y="4242815"/>
            <a:ext cx="201168" cy="201168"/>
          </a:xfrm>
          <a:prstGeom prst="ellipse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Panel 5 takeaway"/>
          <p:cNvSpPr txBox="1"/>
          <p:nvPr/>
        </p:nvSpPr>
        <p:spPr>
          <a:xfrm>
            <a:off x="2993136" y="4197095"/>
            <a:ext cx="18409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80" b="1">
                <a:solidFill>
                  <a:srgbClr val="0B0B0B"/>
                </a:solidFill>
                <a:latin typeface="Arial"/>
              </a:rPr>
              <a:t>Shrinking cut prices to S$1.45M; after 2019 they jump to S$2.05M</a:t>
            </a:r>
          </a:p>
        </p:txBody>
      </p:sp>
      <p:pic>
        <p:nvPicPr>
          <p:cNvPr id="27" name="Panel 5 figure" descr="05_scatter_isopr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2052" y="4526279"/>
            <a:ext cx="2157984" cy="2011680"/>
          </a:xfrm>
          <a:prstGeom prst="rect">
            <a:avLst/>
          </a:prstGeom>
        </p:spPr>
      </p:pic>
      <p:sp>
        <p:nvSpPr>
          <p:cNvPr id="28" name="Panel 6 card"/>
          <p:cNvSpPr/>
          <p:nvPr/>
        </p:nvSpPr>
        <p:spPr>
          <a:xfrm>
            <a:off x="5035296" y="4151375"/>
            <a:ext cx="2252472" cy="242316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anel 6 number"/>
          <p:cNvSpPr/>
          <p:nvPr/>
        </p:nvSpPr>
        <p:spPr>
          <a:xfrm>
            <a:off x="5108448" y="4242815"/>
            <a:ext cx="201168" cy="201168"/>
          </a:xfrm>
          <a:prstGeom prst="ellipse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0" name="Panel 6 takeaway"/>
          <p:cNvSpPr txBox="1"/>
          <p:nvPr/>
        </p:nvSpPr>
        <p:spPr>
          <a:xfrm>
            <a:off x="5373624" y="4197095"/>
            <a:ext cx="18409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80" b="1">
                <a:solidFill>
                  <a:srgbClr val="0B0B0B"/>
                </a:solidFill>
                <a:latin typeface="Arial"/>
              </a:rPr>
              <a:t>Every unit size sells at its project's PSF, within 1.5%</a:t>
            </a:r>
          </a:p>
        </p:txBody>
      </p:sp>
      <p:pic>
        <p:nvPicPr>
          <p:cNvPr id="31" name="Panel 6 figure" descr="06_violin_pric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2540" y="4526279"/>
            <a:ext cx="2157984" cy="2011680"/>
          </a:xfrm>
          <a:prstGeom prst="rect">
            <a:avLst/>
          </a:prstGeom>
        </p:spPr>
      </p:pic>
      <p:sp>
        <p:nvSpPr>
          <p:cNvPr id="32" name="Row 3 label"/>
          <p:cNvSpPr txBox="1"/>
          <p:nvPr/>
        </p:nvSpPr>
        <p:spPr>
          <a:xfrm>
            <a:off x="274320" y="6629399"/>
            <a:ext cx="70134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00" b="1">
                <a:solidFill>
                  <a:srgbClr val="1C5CAB"/>
                </a:solidFill>
                <a:latin typeface="Arial"/>
              </a:rPr>
              <a:t>3   WHY IT HAPPENED, AND WHAT CHANGED</a:t>
            </a:r>
          </a:p>
        </p:txBody>
      </p:sp>
      <p:sp>
        <p:nvSpPr>
          <p:cNvPr id="33" name="Panel 7 card"/>
          <p:cNvSpPr/>
          <p:nvPr/>
        </p:nvSpPr>
        <p:spPr>
          <a:xfrm>
            <a:off x="274320" y="6821423"/>
            <a:ext cx="2252472" cy="242316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anel 7 number"/>
          <p:cNvSpPr/>
          <p:nvPr/>
        </p:nvSpPr>
        <p:spPr>
          <a:xfrm>
            <a:off x="347472" y="6912863"/>
            <a:ext cx="201168" cy="201168"/>
          </a:xfrm>
          <a:prstGeom prst="ellipse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Panel 7 takeaway"/>
          <p:cNvSpPr txBox="1"/>
          <p:nvPr/>
        </p:nvSpPr>
        <p:spPr>
          <a:xfrm>
            <a:off x="612647" y="6867143"/>
            <a:ext cx="18409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80" b="1">
                <a:solidFill>
                  <a:srgbClr val="0B0B0B"/>
                </a:solidFill>
                <a:latin typeface="Arial"/>
              </a:rPr>
              <a:t>Least affordable in 2007–13, when that land was sold</a:t>
            </a:r>
          </a:p>
        </p:txBody>
      </p:sp>
      <p:pic>
        <p:nvPicPr>
          <p:cNvPr id="36" name="Panel 7 figure" descr="07_lollipop_macr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564" y="7196327"/>
            <a:ext cx="2157984" cy="2011680"/>
          </a:xfrm>
          <a:prstGeom prst="rect">
            <a:avLst/>
          </a:prstGeom>
        </p:spPr>
      </p:pic>
      <p:sp>
        <p:nvSpPr>
          <p:cNvPr id="37" name="Panel 8 card"/>
          <p:cNvSpPr/>
          <p:nvPr/>
        </p:nvSpPr>
        <p:spPr>
          <a:xfrm>
            <a:off x="2654808" y="6821423"/>
            <a:ext cx="2252472" cy="242316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anel 8 number"/>
          <p:cNvSpPr/>
          <p:nvPr/>
        </p:nvSpPr>
        <p:spPr>
          <a:xfrm>
            <a:off x="2727960" y="6912863"/>
            <a:ext cx="201168" cy="201168"/>
          </a:xfrm>
          <a:prstGeom prst="ellipse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9" name="Panel 8 takeaway"/>
          <p:cNvSpPr txBox="1"/>
          <p:nvPr/>
        </p:nvSpPr>
        <p:spPr>
          <a:xfrm>
            <a:off x="2993136" y="6867143"/>
            <a:ext cx="18409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80" b="1">
                <a:solidFill>
                  <a:srgbClr val="0B0B0B"/>
                </a:solidFill>
                <a:latin typeface="Arial"/>
              </a:rPr>
              <a:t>The median household can borrow for under 800 sq ft</a:t>
            </a:r>
          </a:p>
        </p:txBody>
      </p:sp>
      <p:pic>
        <p:nvPicPr>
          <p:cNvPr id="40" name="Panel 8 figure" descr="08_heatmap_tds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2052" y="7196327"/>
            <a:ext cx="2157984" cy="2011680"/>
          </a:xfrm>
          <a:prstGeom prst="rect">
            <a:avLst/>
          </a:prstGeom>
        </p:spPr>
      </p:pic>
      <p:sp>
        <p:nvSpPr>
          <p:cNvPr id="41" name="Panel 9 card"/>
          <p:cNvSpPr/>
          <p:nvPr/>
        </p:nvSpPr>
        <p:spPr>
          <a:xfrm>
            <a:off x="5035296" y="6821423"/>
            <a:ext cx="2252472" cy="242316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nel 9 number"/>
          <p:cNvSpPr/>
          <p:nvPr/>
        </p:nvSpPr>
        <p:spPr>
          <a:xfrm>
            <a:off x="5108448" y="6912863"/>
            <a:ext cx="201168" cy="201168"/>
          </a:xfrm>
          <a:prstGeom prst="ellipse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43" name="Panel 9 takeaway"/>
          <p:cNvSpPr txBox="1"/>
          <p:nvPr/>
        </p:nvSpPr>
        <p:spPr>
          <a:xfrm>
            <a:off x="5373624" y="6867143"/>
            <a:ext cx="18409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80" b="1">
                <a:solidFill>
                  <a:srgbClr val="0B0B0B"/>
                </a:solidFill>
                <a:latin typeface="Arial"/>
              </a:rPr>
              <a:t>Price tag S$1.46M → S$2.18M, driven by PSF (+39%)</a:t>
            </a:r>
          </a:p>
        </p:txBody>
      </p:sp>
      <p:pic>
        <p:nvPicPr>
          <p:cNvPr id="44" name="Panel 9 figure" descr="09_waterfal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2540" y="7196327"/>
            <a:ext cx="2157984" cy="2011680"/>
          </a:xfrm>
          <a:prstGeom prst="rect">
            <a:avLst/>
          </a:prstGeom>
        </p:spPr>
      </p:pic>
      <p:sp>
        <p:nvSpPr>
          <p:cNvPr id="45" name="Answer card"/>
          <p:cNvSpPr/>
          <p:nvPr/>
        </p:nvSpPr>
        <p:spPr>
          <a:xfrm>
            <a:off x="274320" y="9326880"/>
            <a:ext cx="7013448" cy="896112"/>
          </a:xfrm>
          <a:prstGeom prst="roundRect">
            <a:avLst>
              <a:gd name="adj" fmla="val 4000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nswer line"/>
          <p:cNvSpPr txBox="1"/>
          <p:nvPr/>
        </p:nvSpPr>
        <p:spPr>
          <a:xfrm>
            <a:off x="420623" y="9400032"/>
            <a:ext cx="6720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F7B89C"/>
                </a:solidFill>
                <a:latin typeface="Arial"/>
              </a:rPr>
              <a:t>Answer: </a:t>
            </a:r>
            <a:r>
              <a:rPr sz="919" b="1">
                <a:solidFill>
                  <a:srgbClr val="FFFFFF"/>
                </a:solidFill>
                <a:latin typeface="Arial"/>
              </a:rPr>
              <a:t>yes, until URA stopped it. Homes shrank about 40% to hold the price tag down. Now that shrinking is capped, the price tag rises instead.</a:t>
            </a:r>
          </a:p>
        </p:txBody>
      </p:sp>
      <p:sp>
        <p:nvSpPr>
          <p:cNvPr id="47" name="Finding 1 number"/>
          <p:cNvSpPr/>
          <p:nvPr/>
        </p:nvSpPr>
        <p:spPr>
          <a:xfrm>
            <a:off x="420623" y="9811511"/>
            <a:ext cx="182880" cy="18288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8" name="Finding 1"/>
          <p:cNvSpPr txBox="1"/>
          <p:nvPr/>
        </p:nvSpPr>
        <p:spPr>
          <a:xfrm>
            <a:off x="676656" y="9784080"/>
            <a:ext cx="186232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20" b="0">
                <a:solidFill>
                  <a:srgbClr val="FFFFFF"/>
                </a:solidFill>
                <a:latin typeface="Arial"/>
              </a:rPr>
              <a:t>Homes on land sold after 2008 are about 40% smaller, and big homes all but disappeared</a:t>
            </a:r>
          </a:p>
        </p:txBody>
      </p:sp>
      <p:sp>
        <p:nvSpPr>
          <p:cNvPr id="49" name="Finding 2 number"/>
          <p:cNvSpPr/>
          <p:nvPr/>
        </p:nvSpPr>
        <p:spPr>
          <a:xfrm>
            <a:off x="2721864" y="9811511"/>
            <a:ext cx="182880" cy="18288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0" name="Finding 2"/>
          <p:cNvSpPr txBox="1"/>
          <p:nvPr/>
        </p:nvSpPr>
        <p:spPr>
          <a:xfrm>
            <a:off x="2977896" y="9784080"/>
            <a:ext cx="186232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20" b="0">
                <a:solidFill>
                  <a:srgbClr val="FFFFFF"/>
                </a:solidFill>
                <a:latin typeface="Arial"/>
              </a:rPr>
              <a:t>It is not location. It works because a launch is priced per sq ft, so fewer sq ft means a lower price tag</a:t>
            </a:r>
          </a:p>
        </p:txBody>
      </p:sp>
      <p:sp>
        <p:nvSpPr>
          <p:cNvPr id="51" name="Finding 3 number"/>
          <p:cNvSpPr/>
          <p:nvPr/>
        </p:nvSpPr>
        <p:spPr>
          <a:xfrm>
            <a:off x="5023104" y="9811511"/>
            <a:ext cx="182880" cy="18288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2" name="Finding 3"/>
          <p:cNvSpPr txBox="1"/>
          <p:nvPr/>
        </p:nvSpPr>
        <p:spPr>
          <a:xfrm>
            <a:off x="5279136" y="9784080"/>
            <a:ext cx="186232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20" b="0">
                <a:solidFill>
                  <a:srgbClr val="FFFFFF"/>
                </a:solidFill>
                <a:latin typeface="Arial"/>
              </a:rPr>
              <a:t>Prices outran incomes when that land was sold. Since the 2019 cap the new-launch price tag is up 49%</a:t>
            </a:r>
          </a:p>
        </p:txBody>
      </p:sp>
      <p:sp>
        <p:nvSpPr>
          <p:cNvPr id="53" name="Footnote"/>
          <p:cNvSpPr txBox="1"/>
          <p:nvPr/>
        </p:nvSpPr>
        <p:spPr>
          <a:xfrm>
            <a:off x="274320" y="10277856"/>
            <a:ext cx="7013448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500" b="1">
                <a:solidFill>
                  <a:srgbClr val="6F6E69"/>
                </a:solidFill>
                <a:latin typeface="Arial"/>
              </a:rPr>
              <a:t>Data and method: </a:t>
            </a:r>
            <a:r>
              <a:rPr sz="500" b="0">
                <a:solidFill>
                  <a:srgbClr val="6F6E69"/>
                </a:solidFill>
                <a:latin typeface="Arial"/>
              </a:rPr>
              <a:t>24,131 URA private home sales in 2025 and 74,436 from Aug 2020 to Dec 2023 [1]; 155 rows outside 200–5,000 sq ft removed. Charts 2–5 use 99-year leaseholds grouped by lease-start year. Chart 7 uses the URA price index [2] and SingStat household income [3]; chart 8 applies MAS loan rules [4]. </a:t>
            </a:r>
            <a:r>
              <a:rPr sz="500" b="1">
                <a:solidFill>
                  <a:srgbClr val="6F6E69"/>
                </a:solidFill>
                <a:latin typeface="Arial"/>
              </a:rPr>
              <a:t>Limitations: </a:t>
            </a:r>
            <a:r>
              <a:rPr sz="500" b="0">
                <a:solidFill>
                  <a:srgbClr val="6F6E69"/>
                </a:solidFill>
                <a:latin typeface="Arial"/>
              </a:rPr>
              <a:t>eras are compared at 2025 prices, so older homes also carry age and lease decay; no bedroom count; 2024 missing; associations, not causal effects.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500" b="1">
                <a:solidFill>
                  <a:srgbClr val="6F6E69"/>
                </a:solidFill>
                <a:latin typeface="Arial"/>
              </a:rPr>
              <a:t>Sources: </a:t>
            </a:r>
            <a:r>
              <a:rPr sz="500" b="0">
                <a:solidFill>
                  <a:srgbClr val="6F6E69"/>
                </a:solidFill>
                <a:latin typeface="Arial"/>
              </a:rPr>
              <a:t>[1] URA REALIS via DAO2702 (2025; Lecture 6, 2020–23). [2] URA Private Residential Price Index, data.gov.sg. [3] SingStat household income, data.gov.sg. [4] MAS: TDSR 55%, 4% stress rate. [5] URA circular DC18-06 (2018). [6] ONS (2019), shrinkflation and CPIH. Code: shrinkflation.ipynb.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