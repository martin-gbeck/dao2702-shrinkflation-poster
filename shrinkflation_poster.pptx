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2088" cy="10689336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74320" y="164592"/>
            <a:ext cx="70134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2300" b="1">
                <a:solidFill>
                  <a:srgbClr val="0D366B"/>
                </a:solidFill>
                <a:latin typeface="Arial"/>
              </a:rPr>
              <a:t>Shrinkflation in Singapore's Private Homes</a:t>
            </a:r>
          </a:p>
        </p:txBody>
      </p:sp>
      <p:sp>
        <p:nvSpPr>
          <p:cNvPr id="3" name="Team line"/>
          <p:cNvSpPr txBox="1"/>
          <p:nvPr/>
        </p:nvSpPr>
        <p:spPr>
          <a:xfrm>
            <a:off x="274320" y="548640"/>
            <a:ext cx="7013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650" b="0">
                <a:solidFill>
                  <a:srgbClr val="6F6E69"/>
                </a:solidFill>
                <a:latin typeface="Arial"/>
              </a:rPr>
              <a:t>DAO2702 Group Assignment  ·  Team Jupyter  ·  Martin, Huaitao, Manan, Jialin, Midhvan, Hoyoung</a:t>
            </a:r>
          </a:p>
        </p:txBody>
      </p:sp>
      <p:sp>
        <p:nvSpPr>
          <p:cNvPr id="4" name="Question"/>
          <p:cNvSpPr txBox="1"/>
          <p:nvPr/>
        </p:nvSpPr>
        <p:spPr>
          <a:xfrm>
            <a:off x="274320" y="731520"/>
            <a:ext cx="70134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0B0B0B"/>
                </a:solidFill>
                <a:latin typeface="Arial"/>
              </a:rPr>
              <a:t>Did homes shrink to keep the price tag within reach, and is it still happening in 2025?</a:t>
            </a:r>
          </a:p>
        </p:txBody>
      </p:sp>
      <p:sp>
        <p:nvSpPr>
          <p:cNvPr id="5" name="Terms line"/>
          <p:cNvSpPr txBox="1"/>
          <p:nvPr/>
        </p:nvSpPr>
        <p:spPr>
          <a:xfrm>
            <a:off x="274320" y="1005840"/>
            <a:ext cx="70134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620" b="0">
                <a:solidFill>
                  <a:srgbClr val="8F8E89"/>
                </a:solidFill>
                <a:latin typeface="Arial"/>
              </a:rPr>
              <a:t>Shrinkflation: less product for the same price tag [6]   ·   PSF: price per sq ft, so price tag = floor area × PSF   ·   Lease-start year ≈ year the land was sold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620" b="0">
                <a:solidFill>
                  <a:srgbClr val="8F8E89"/>
                </a:solidFill>
                <a:latin typeface="Arial"/>
              </a:rPr>
              <a:t>URA unit cap: units ≤ floor area ÷ 70 m² (85 m² from 2019) [5]   ·   MAS limit: loan repayments ≤ 55% of income, tested at 4% [4]</a:t>
            </a:r>
          </a:p>
        </p:txBody>
      </p:sp>
      <p:sp>
        <p:nvSpPr>
          <p:cNvPr id="6" name="Row 1 label"/>
          <p:cNvSpPr txBox="1"/>
          <p:nvPr/>
        </p:nvSpPr>
        <p:spPr>
          <a:xfrm>
            <a:off x="274320" y="1289304"/>
            <a:ext cx="701344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00" b="1">
                <a:solidFill>
                  <a:srgbClr val="1C5CAB"/>
                </a:solidFill>
                <a:latin typeface="Arial"/>
              </a:rPr>
              <a:t>1   WHAT SHRANK</a:t>
            </a:r>
          </a:p>
        </p:txBody>
      </p:sp>
      <p:sp>
        <p:nvSpPr>
          <p:cNvPr id="7" name="Panel 1 card"/>
          <p:cNvSpPr/>
          <p:nvPr/>
        </p:nvSpPr>
        <p:spPr>
          <a:xfrm>
            <a:off x="274320" y="1481328"/>
            <a:ext cx="2252472" cy="2414016"/>
          </a:xfrm>
          <a:prstGeom prst="roundRect">
            <a:avLst>
              <a:gd name="adj" fmla="val 4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anel 1 number"/>
          <p:cNvSpPr/>
          <p:nvPr/>
        </p:nvSpPr>
        <p:spPr>
          <a:xfrm>
            <a:off x="347472" y="1572768"/>
            <a:ext cx="201168" cy="201168"/>
          </a:xfrm>
          <a:prstGeom prst="ellipse">
            <a:avLst/>
          </a:prstGeom>
          <a:solidFill>
            <a:srgbClr val="0D3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Panel 1 takeaway"/>
          <p:cNvSpPr txBox="1"/>
          <p:nvPr/>
        </p:nvSpPr>
        <p:spPr>
          <a:xfrm>
            <a:off x="612647" y="1527048"/>
            <a:ext cx="18409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80" b="1">
                <a:solidFill>
                  <a:srgbClr val="0B0B0B"/>
                </a:solidFill>
                <a:latin typeface="Arial"/>
              </a:rPr>
              <a:t>New launches are 21% smaller than resale homes</a:t>
            </a:r>
          </a:p>
        </p:txBody>
      </p:sp>
      <p:pic>
        <p:nvPicPr>
          <p:cNvPr id="10" name="Panel 1 figure" descr="01_hist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564" y="1856232"/>
            <a:ext cx="2157984" cy="1554480"/>
          </a:xfrm>
          <a:prstGeom prst="rect">
            <a:avLst/>
          </a:prstGeom>
        </p:spPr>
      </p:pic>
      <p:sp>
        <p:nvSpPr>
          <p:cNvPr id="11" name="Panel 1 insight"/>
          <p:cNvSpPr txBox="1"/>
          <p:nvPr/>
        </p:nvSpPr>
        <p:spPr>
          <a:xfrm>
            <a:off x="384048" y="3438144"/>
            <a:ext cx="2033016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690" b="0">
                <a:solidFill>
                  <a:srgbClr val="52514E"/>
                </a:solidFill>
                <a:latin typeface="Arial"/>
              </a:rPr>
              <a:t>New launches crowd into 500–900 sq ft. A buyer who wants a family-sized home now mostly has to look at resale.</a:t>
            </a:r>
          </a:p>
        </p:txBody>
      </p:sp>
      <p:sp>
        <p:nvSpPr>
          <p:cNvPr id="12" name="Panel 2 card"/>
          <p:cNvSpPr/>
          <p:nvPr/>
        </p:nvSpPr>
        <p:spPr>
          <a:xfrm>
            <a:off x="2654808" y="1481328"/>
            <a:ext cx="2252472" cy="2414016"/>
          </a:xfrm>
          <a:prstGeom prst="roundRect">
            <a:avLst>
              <a:gd name="adj" fmla="val 4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anel 2 number"/>
          <p:cNvSpPr/>
          <p:nvPr/>
        </p:nvSpPr>
        <p:spPr>
          <a:xfrm>
            <a:off x="2727960" y="1572768"/>
            <a:ext cx="201168" cy="201168"/>
          </a:xfrm>
          <a:prstGeom prst="ellipse">
            <a:avLst/>
          </a:prstGeom>
          <a:solidFill>
            <a:srgbClr val="0D3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Panel 2 takeaway"/>
          <p:cNvSpPr txBox="1"/>
          <p:nvPr/>
        </p:nvSpPr>
        <p:spPr>
          <a:xfrm>
            <a:off x="2993136" y="1527048"/>
            <a:ext cx="18409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80" b="1">
                <a:solidFill>
                  <a:srgbClr val="0B0B0B"/>
                </a:solidFill>
                <a:latin typeface="Arial"/>
              </a:rPr>
              <a:t>Homes shrank 43% for land sold after 2008</a:t>
            </a:r>
          </a:p>
        </p:txBody>
      </p:sp>
      <p:pic>
        <p:nvPicPr>
          <p:cNvPr id="15" name="Panel 2 figure" descr="02_line_vint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2052" y="1856232"/>
            <a:ext cx="2157984" cy="1554480"/>
          </a:xfrm>
          <a:prstGeom prst="rect">
            <a:avLst/>
          </a:prstGeom>
        </p:spPr>
      </p:pic>
      <p:sp>
        <p:nvSpPr>
          <p:cNvPr id="16" name="Panel 2 insight"/>
          <p:cNvSpPr txBox="1"/>
          <p:nvPr/>
        </p:nvSpPr>
        <p:spPr>
          <a:xfrm>
            <a:off x="2764536" y="3438144"/>
            <a:ext cx="2033016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690" b="0">
                <a:solidFill>
                  <a:srgbClr val="52514E"/>
                </a:solidFill>
                <a:latin typeface="Arial"/>
              </a:rPr>
              <a:t>A 43% drop in five years is too fast for slowly changing tastes. It lines up with the least affordable years (chart 7) and stops at URA's line.</a:t>
            </a:r>
          </a:p>
        </p:txBody>
      </p:sp>
      <p:sp>
        <p:nvSpPr>
          <p:cNvPr id="17" name="Panel 3 card"/>
          <p:cNvSpPr/>
          <p:nvPr/>
        </p:nvSpPr>
        <p:spPr>
          <a:xfrm>
            <a:off x="5035296" y="1481328"/>
            <a:ext cx="2252472" cy="2414016"/>
          </a:xfrm>
          <a:prstGeom prst="roundRect">
            <a:avLst>
              <a:gd name="adj" fmla="val 4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Panel 3 number"/>
          <p:cNvSpPr/>
          <p:nvPr/>
        </p:nvSpPr>
        <p:spPr>
          <a:xfrm>
            <a:off x="5108448" y="1572768"/>
            <a:ext cx="201168" cy="201168"/>
          </a:xfrm>
          <a:prstGeom prst="ellipse">
            <a:avLst/>
          </a:prstGeom>
          <a:solidFill>
            <a:srgbClr val="0D3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Panel 3 takeaway"/>
          <p:cNvSpPr txBox="1"/>
          <p:nvPr/>
        </p:nvSpPr>
        <p:spPr>
          <a:xfrm>
            <a:off x="5373624" y="1527048"/>
            <a:ext cx="18409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80" b="1">
                <a:solidFill>
                  <a:srgbClr val="0B0B0B"/>
                </a:solidFill>
                <a:latin typeface="Arial"/>
              </a:rPr>
              <a:t>Shoeboxes rose from 1% to 13%, big homes fell from 34% to 8%</a:t>
            </a:r>
          </a:p>
        </p:txBody>
      </p:sp>
      <p:pic>
        <p:nvPicPr>
          <p:cNvPr id="20" name="Panel 3 figure" descr="03_stacked_mi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2540" y="1856232"/>
            <a:ext cx="2157984" cy="1554480"/>
          </a:xfrm>
          <a:prstGeom prst="rect">
            <a:avLst/>
          </a:prstGeom>
        </p:spPr>
      </p:pic>
      <p:sp>
        <p:nvSpPr>
          <p:cNvPr id="21" name="Panel 3 insight"/>
          <p:cNvSpPr txBox="1"/>
          <p:nvPr/>
        </p:nvSpPr>
        <p:spPr>
          <a:xfrm>
            <a:off x="5145024" y="3438144"/>
            <a:ext cx="2033016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690" b="0">
                <a:solidFill>
                  <a:srgbClr val="52514E"/>
                </a:solidFill>
                <a:latin typeface="Arial"/>
              </a:rPr>
              <a:t>The cap cut shoeboxes, yet big homes never returned. Developers moved to compact one- and two-bedders instead.</a:t>
            </a:r>
          </a:p>
        </p:txBody>
      </p:sp>
      <p:sp>
        <p:nvSpPr>
          <p:cNvPr id="22" name="Row 2 label"/>
          <p:cNvSpPr txBox="1"/>
          <p:nvPr/>
        </p:nvSpPr>
        <p:spPr>
          <a:xfrm>
            <a:off x="274320" y="3941063"/>
            <a:ext cx="701344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00" b="1">
                <a:solidFill>
                  <a:srgbClr val="1C5CAB"/>
                </a:solidFill>
                <a:latin typeface="Arial"/>
              </a:rPr>
              <a:t>2   IS IT REAL, AND HOW DOES IT WORK?</a:t>
            </a:r>
          </a:p>
        </p:txBody>
      </p:sp>
      <p:sp>
        <p:nvSpPr>
          <p:cNvPr id="23" name="Panel 4 card"/>
          <p:cNvSpPr/>
          <p:nvPr/>
        </p:nvSpPr>
        <p:spPr>
          <a:xfrm>
            <a:off x="274320" y="4133087"/>
            <a:ext cx="2252472" cy="2414016"/>
          </a:xfrm>
          <a:prstGeom prst="roundRect">
            <a:avLst>
              <a:gd name="adj" fmla="val 4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Panel 4 number"/>
          <p:cNvSpPr/>
          <p:nvPr/>
        </p:nvSpPr>
        <p:spPr>
          <a:xfrm>
            <a:off x="347472" y="4224527"/>
            <a:ext cx="201168" cy="201168"/>
          </a:xfrm>
          <a:prstGeom prst="ellipse">
            <a:avLst/>
          </a:prstGeom>
          <a:solidFill>
            <a:srgbClr val="0D3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Panel 4 takeaway"/>
          <p:cNvSpPr txBox="1"/>
          <p:nvPr/>
        </p:nvSpPr>
        <p:spPr>
          <a:xfrm>
            <a:off x="612647" y="4178807"/>
            <a:ext cx="18409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80" b="1">
                <a:solidFill>
                  <a:srgbClr val="0B0B0B"/>
                </a:solidFill>
                <a:latin typeface="Arial"/>
              </a:rPr>
              <a:t>Within the same district the gap stays at −34%</a:t>
            </a:r>
          </a:p>
        </p:txBody>
      </p:sp>
      <p:pic>
        <p:nvPicPr>
          <p:cNvPr id="26" name="Panel 4 figure" descr="04_coefficien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1564" y="4507991"/>
            <a:ext cx="2157984" cy="1554480"/>
          </a:xfrm>
          <a:prstGeom prst="rect">
            <a:avLst/>
          </a:prstGeom>
        </p:spPr>
      </p:pic>
      <p:sp>
        <p:nvSpPr>
          <p:cNvPr id="27" name="Panel 4 insight"/>
          <p:cNvSpPr txBox="1"/>
          <p:nvPr/>
        </p:nvSpPr>
        <p:spPr>
          <a:xfrm>
            <a:off x="384048" y="6089903"/>
            <a:ext cx="2033016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690" b="0">
                <a:solidFill>
                  <a:srgbClr val="52514E"/>
                </a:solidFill>
                <a:latin typeface="Arial"/>
              </a:rPr>
              <a:t>The raw and controlled gaps are almost identical, so units shrank everywhere, in cheap suburbs and prime districts alike.</a:t>
            </a:r>
          </a:p>
        </p:txBody>
      </p:sp>
      <p:sp>
        <p:nvSpPr>
          <p:cNvPr id="28" name="Panel 5 card"/>
          <p:cNvSpPr/>
          <p:nvPr/>
        </p:nvSpPr>
        <p:spPr>
          <a:xfrm>
            <a:off x="2654808" y="4133087"/>
            <a:ext cx="2252472" cy="2414016"/>
          </a:xfrm>
          <a:prstGeom prst="roundRect">
            <a:avLst>
              <a:gd name="adj" fmla="val 4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Panel 5 number"/>
          <p:cNvSpPr/>
          <p:nvPr/>
        </p:nvSpPr>
        <p:spPr>
          <a:xfrm>
            <a:off x="2727960" y="4224527"/>
            <a:ext cx="201168" cy="201168"/>
          </a:xfrm>
          <a:prstGeom prst="ellipse">
            <a:avLst/>
          </a:prstGeom>
          <a:solidFill>
            <a:srgbClr val="0D3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Panel 5 takeaway"/>
          <p:cNvSpPr txBox="1"/>
          <p:nvPr/>
        </p:nvSpPr>
        <p:spPr>
          <a:xfrm>
            <a:off x="2993136" y="4178807"/>
            <a:ext cx="18409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80" b="1">
                <a:solidFill>
                  <a:srgbClr val="0B0B0B"/>
                </a:solidFill>
                <a:latin typeface="Arial"/>
              </a:rPr>
              <a:t>Shrinking cut prices to S$1.45M; after 2019 they jumped to S$2.05M</a:t>
            </a:r>
          </a:p>
        </p:txBody>
      </p:sp>
      <p:pic>
        <p:nvPicPr>
          <p:cNvPr id="31" name="Panel 5 figure" descr="05_scatter_isopric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2052" y="4507991"/>
            <a:ext cx="2157984" cy="1554480"/>
          </a:xfrm>
          <a:prstGeom prst="rect">
            <a:avLst/>
          </a:prstGeom>
        </p:spPr>
      </p:pic>
      <p:sp>
        <p:nvSpPr>
          <p:cNvPr id="32" name="Panel 5 insight"/>
          <p:cNvSpPr txBox="1"/>
          <p:nvPr/>
        </p:nvSpPr>
        <p:spPr>
          <a:xfrm>
            <a:off x="2764536" y="6089903"/>
            <a:ext cx="2033016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690" b="0">
                <a:solidFill>
                  <a:srgbClr val="52514E"/>
                </a:solidFill>
                <a:latin typeface="Arial"/>
              </a:rPr>
              <a:t>Smaller homes stayed cheaper despite a higher PSF, the trade shrinkflation relies on. Once the shrink stopped, the price tag rose by S$0.6M.</a:t>
            </a:r>
          </a:p>
        </p:txBody>
      </p:sp>
      <p:sp>
        <p:nvSpPr>
          <p:cNvPr id="33" name="Panel 6 card"/>
          <p:cNvSpPr/>
          <p:nvPr/>
        </p:nvSpPr>
        <p:spPr>
          <a:xfrm>
            <a:off x="5035296" y="4133087"/>
            <a:ext cx="2252472" cy="2414016"/>
          </a:xfrm>
          <a:prstGeom prst="roundRect">
            <a:avLst>
              <a:gd name="adj" fmla="val 4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Panel 6 number"/>
          <p:cNvSpPr/>
          <p:nvPr/>
        </p:nvSpPr>
        <p:spPr>
          <a:xfrm>
            <a:off x="5108448" y="4224527"/>
            <a:ext cx="201168" cy="201168"/>
          </a:xfrm>
          <a:prstGeom prst="ellipse">
            <a:avLst/>
          </a:prstGeom>
          <a:solidFill>
            <a:srgbClr val="0D3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Panel 6 takeaway"/>
          <p:cNvSpPr txBox="1"/>
          <p:nvPr/>
        </p:nvSpPr>
        <p:spPr>
          <a:xfrm>
            <a:off x="5373624" y="4178807"/>
            <a:ext cx="18409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80" b="1">
                <a:solidFill>
                  <a:srgbClr val="0B0B0B"/>
                </a:solidFill>
                <a:latin typeface="Arial"/>
              </a:rPr>
              <a:t>Every unit size sells at its project's PSF, within 1.5%</a:t>
            </a:r>
          </a:p>
        </p:txBody>
      </p:sp>
      <p:pic>
        <p:nvPicPr>
          <p:cNvPr id="36" name="Panel 6 figure" descr="06_violin_pricing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82540" y="4507991"/>
            <a:ext cx="2157984" cy="1554480"/>
          </a:xfrm>
          <a:prstGeom prst="rect">
            <a:avLst/>
          </a:prstGeom>
        </p:spPr>
      </p:pic>
      <p:sp>
        <p:nvSpPr>
          <p:cNvPr id="37" name="Panel 6 insight"/>
          <p:cNvSpPr txBox="1"/>
          <p:nvPr/>
        </p:nvSpPr>
        <p:spPr>
          <a:xfrm>
            <a:off x="5145024" y="6089903"/>
            <a:ext cx="2033016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690" b="0">
                <a:solidFill>
                  <a:srgbClr val="52514E"/>
                </a:solidFill>
                <a:latin typeface="Arial"/>
              </a:rPr>
              <a:t>Small units carry no premium inside a launch, so every sq ft cut comes straight off the price tag, which made shrinking the easiest lever.</a:t>
            </a:r>
          </a:p>
        </p:txBody>
      </p:sp>
      <p:sp>
        <p:nvSpPr>
          <p:cNvPr id="38" name="Row 3 label"/>
          <p:cNvSpPr txBox="1"/>
          <p:nvPr/>
        </p:nvSpPr>
        <p:spPr>
          <a:xfrm>
            <a:off x="274320" y="6592824"/>
            <a:ext cx="701344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00" b="1">
                <a:solidFill>
                  <a:srgbClr val="1C5CAB"/>
                </a:solidFill>
                <a:latin typeface="Arial"/>
              </a:rPr>
              <a:t>3   WHY IT HAPPENED, AND WHAT CHANGED</a:t>
            </a:r>
          </a:p>
        </p:txBody>
      </p:sp>
      <p:sp>
        <p:nvSpPr>
          <p:cNvPr id="39" name="Panel 7 card"/>
          <p:cNvSpPr/>
          <p:nvPr/>
        </p:nvSpPr>
        <p:spPr>
          <a:xfrm>
            <a:off x="274320" y="6784848"/>
            <a:ext cx="2252472" cy="2414016"/>
          </a:xfrm>
          <a:prstGeom prst="roundRect">
            <a:avLst>
              <a:gd name="adj" fmla="val 4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Panel 7 number"/>
          <p:cNvSpPr/>
          <p:nvPr/>
        </p:nvSpPr>
        <p:spPr>
          <a:xfrm>
            <a:off x="347472" y="6876288"/>
            <a:ext cx="201168" cy="201168"/>
          </a:xfrm>
          <a:prstGeom prst="ellipse">
            <a:avLst/>
          </a:prstGeom>
          <a:solidFill>
            <a:srgbClr val="0D3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1" name="Panel 7 takeaway"/>
          <p:cNvSpPr txBox="1"/>
          <p:nvPr/>
        </p:nvSpPr>
        <p:spPr>
          <a:xfrm>
            <a:off x="612647" y="6830568"/>
            <a:ext cx="18409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80" b="1">
                <a:solidFill>
                  <a:srgbClr val="0B0B0B"/>
                </a:solidFill>
                <a:latin typeface="Arial"/>
              </a:rPr>
              <a:t>Least affordable in 2007–13, when that land was sold</a:t>
            </a:r>
          </a:p>
        </p:txBody>
      </p:sp>
      <p:pic>
        <p:nvPicPr>
          <p:cNvPr id="42" name="Panel 7 figure" descr="07_lollipop_macr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1564" y="7159751"/>
            <a:ext cx="2157984" cy="1554480"/>
          </a:xfrm>
          <a:prstGeom prst="rect">
            <a:avLst/>
          </a:prstGeom>
        </p:spPr>
      </p:pic>
      <p:sp>
        <p:nvSpPr>
          <p:cNvPr id="43" name="Panel 7 insight"/>
          <p:cNvSpPr txBox="1"/>
          <p:nvPr/>
        </p:nvSpPr>
        <p:spPr>
          <a:xfrm>
            <a:off x="384048" y="8741663"/>
            <a:ext cx="2033016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690" b="0">
                <a:solidFill>
                  <a:srgbClr val="52514E"/>
                </a:solidFill>
                <a:latin typeface="Arial"/>
              </a:rPr>
              <a:t>When prices ran ahead of incomes, developers cut floor area instead of the price per sq ft.</a:t>
            </a:r>
          </a:p>
        </p:txBody>
      </p:sp>
      <p:sp>
        <p:nvSpPr>
          <p:cNvPr id="44" name="Panel 8 card"/>
          <p:cNvSpPr/>
          <p:nvPr/>
        </p:nvSpPr>
        <p:spPr>
          <a:xfrm>
            <a:off x="2654808" y="6784848"/>
            <a:ext cx="2252472" cy="2414016"/>
          </a:xfrm>
          <a:prstGeom prst="roundRect">
            <a:avLst>
              <a:gd name="adj" fmla="val 4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Panel 8 number"/>
          <p:cNvSpPr/>
          <p:nvPr/>
        </p:nvSpPr>
        <p:spPr>
          <a:xfrm>
            <a:off x="2727960" y="6876288"/>
            <a:ext cx="201168" cy="201168"/>
          </a:xfrm>
          <a:prstGeom prst="ellipse">
            <a:avLst/>
          </a:prstGeom>
          <a:solidFill>
            <a:srgbClr val="0D3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6" name="Panel 8 takeaway"/>
          <p:cNvSpPr txBox="1"/>
          <p:nvPr/>
        </p:nvSpPr>
        <p:spPr>
          <a:xfrm>
            <a:off x="2993136" y="6830568"/>
            <a:ext cx="18409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80" b="1">
                <a:solidFill>
                  <a:srgbClr val="0B0B0B"/>
                </a:solidFill>
                <a:latin typeface="Arial"/>
              </a:rPr>
              <a:t>The median household can borrow for under 800 sq ft</a:t>
            </a:r>
          </a:p>
        </p:txBody>
      </p:sp>
      <p:pic>
        <p:nvPicPr>
          <p:cNvPr id="47" name="Panel 8 figure" descr="08_heatmap_tds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02052" y="7159751"/>
            <a:ext cx="2157984" cy="1554480"/>
          </a:xfrm>
          <a:prstGeom prst="rect">
            <a:avLst/>
          </a:prstGeom>
        </p:spPr>
      </p:pic>
      <p:sp>
        <p:nvSpPr>
          <p:cNvPr id="48" name="Panel 8 insight"/>
          <p:cNvSpPr txBox="1"/>
          <p:nvPr/>
        </p:nvSpPr>
        <p:spPr>
          <a:xfrm>
            <a:off x="2764536" y="8741663"/>
            <a:ext cx="2033016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690" b="0">
                <a:solidFill>
                  <a:srgbClr val="52514E"/>
                </a:solidFill>
                <a:latin typeface="Arial"/>
              </a:rPr>
              <a:t>The median new unit sits almost exactly at what the median household can borrow, which suggests launches are sized to the loan limit.</a:t>
            </a:r>
          </a:p>
        </p:txBody>
      </p:sp>
      <p:sp>
        <p:nvSpPr>
          <p:cNvPr id="49" name="Panel 9 card"/>
          <p:cNvSpPr/>
          <p:nvPr/>
        </p:nvSpPr>
        <p:spPr>
          <a:xfrm>
            <a:off x="5035296" y="6784848"/>
            <a:ext cx="2252472" cy="2414016"/>
          </a:xfrm>
          <a:prstGeom prst="roundRect">
            <a:avLst>
              <a:gd name="adj" fmla="val 4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Panel 9 number"/>
          <p:cNvSpPr/>
          <p:nvPr/>
        </p:nvSpPr>
        <p:spPr>
          <a:xfrm>
            <a:off x="5108448" y="6876288"/>
            <a:ext cx="201168" cy="201168"/>
          </a:xfrm>
          <a:prstGeom prst="ellipse">
            <a:avLst/>
          </a:prstGeom>
          <a:solidFill>
            <a:srgbClr val="0D3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51" name="Panel 9 takeaway"/>
          <p:cNvSpPr txBox="1"/>
          <p:nvPr/>
        </p:nvSpPr>
        <p:spPr>
          <a:xfrm>
            <a:off x="5373624" y="6830568"/>
            <a:ext cx="18409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80" b="1">
                <a:solidFill>
                  <a:srgbClr val="0B0B0B"/>
                </a:solidFill>
                <a:latin typeface="Arial"/>
              </a:rPr>
              <a:t>Price tag S$1.46M → S$2.18M, driven by PSF (+39%)</a:t>
            </a:r>
          </a:p>
        </p:txBody>
      </p:sp>
      <p:pic>
        <p:nvPicPr>
          <p:cNvPr id="52" name="Panel 9 figure" descr="09_waterfall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82540" y="7159751"/>
            <a:ext cx="2157984" cy="1554480"/>
          </a:xfrm>
          <a:prstGeom prst="rect">
            <a:avLst/>
          </a:prstGeom>
        </p:spPr>
      </p:pic>
      <p:sp>
        <p:nvSpPr>
          <p:cNvPr id="53" name="Panel 9 insight"/>
          <p:cNvSpPr txBox="1"/>
          <p:nvPr/>
        </p:nvSpPr>
        <p:spPr>
          <a:xfrm>
            <a:off x="5145024" y="8741663"/>
            <a:ext cx="2033016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690" b="0">
                <a:solidFill>
                  <a:srgbClr val="52514E"/>
                </a:solidFill>
                <a:latin typeface="Arial"/>
              </a:rPr>
              <a:t>With the cap fixing sizes, any further PSF rise reaches buyers in full. Affordability now depends on land costs and incomes.</a:t>
            </a:r>
          </a:p>
        </p:txBody>
      </p:sp>
      <p:sp>
        <p:nvSpPr>
          <p:cNvPr id="54" name="Answer card"/>
          <p:cNvSpPr/>
          <p:nvPr/>
        </p:nvSpPr>
        <p:spPr>
          <a:xfrm>
            <a:off x="274320" y="9272016"/>
            <a:ext cx="7013448" cy="896112"/>
          </a:xfrm>
          <a:prstGeom prst="roundRect">
            <a:avLst>
              <a:gd name="adj" fmla="val 4000"/>
            </a:avLst>
          </a:prstGeom>
          <a:solidFill>
            <a:srgbClr val="0D3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Answer line"/>
          <p:cNvSpPr txBox="1"/>
          <p:nvPr/>
        </p:nvSpPr>
        <p:spPr>
          <a:xfrm>
            <a:off x="420623" y="9345168"/>
            <a:ext cx="6720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919" b="1">
                <a:solidFill>
                  <a:srgbClr val="F7B89C"/>
                </a:solidFill>
                <a:latin typeface="Arial"/>
              </a:rPr>
              <a:t>Answer: </a:t>
            </a:r>
            <a:r>
              <a:rPr sz="919" b="1">
                <a:solidFill>
                  <a:srgbClr val="FFFFFF"/>
                </a:solidFill>
                <a:latin typeface="Arial"/>
              </a:rPr>
              <a:t>yes, until URA stopped it. Homes shrank about 40% to hold the price tag down. Now that shrinking is capped, the price tag rises instead.</a:t>
            </a:r>
          </a:p>
        </p:txBody>
      </p:sp>
      <p:sp>
        <p:nvSpPr>
          <p:cNvPr id="56" name="Finding 1 number"/>
          <p:cNvSpPr/>
          <p:nvPr/>
        </p:nvSpPr>
        <p:spPr>
          <a:xfrm>
            <a:off x="420623" y="9756648"/>
            <a:ext cx="182880" cy="182880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7" name="Finding 1"/>
          <p:cNvSpPr txBox="1"/>
          <p:nvPr/>
        </p:nvSpPr>
        <p:spPr>
          <a:xfrm>
            <a:off x="676656" y="9729216"/>
            <a:ext cx="1862327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20" b="0">
                <a:solidFill>
                  <a:srgbClr val="FFFFFF"/>
                </a:solidFill>
                <a:latin typeface="Arial"/>
              </a:rPr>
              <a:t>Homes on land sold after 2008 are about 40% smaller, and big homes fell from 34% to 8%</a:t>
            </a:r>
          </a:p>
        </p:txBody>
      </p:sp>
      <p:sp>
        <p:nvSpPr>
          <p:cNvPr id="58" name="Finding 2 number"/>
          <p:cNvSpPr/>
          <p:nvPr/>
        </p:nvSpPr>
        <p:spPr>
          <a:xfrm>
            <a:off x="2721864" y="9756648"/>
            <a:ext cx="182880" cy="182880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59" name="Finding 2"/>
          <p:cNvSpPr txBox="1"/>
          <p:nvPr/>
        </p:nvSpPr>
        <p:spPr>
          <a:xfrm>
            <a:off x="2977896" y="9729216"/>
            <a:ext cx="1862327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20" b="0">
                <a:solidFill>
                  <a:srgbClr val="FFFFFF"/>
                </a:solidFill>
                <a:latin typeface="Arial"/>
              </a:rPr>
              <a:t>Location does not explain it. Launches are priced per sq ft, so fewer sq ft means a lower price tag</a:t>
            </a:r>
          </a:p>
        </p:txBody>
      </p:sp>
      <p:sp>
        <p:nvSpPr>
          <p:cNvPr id="60" name="Finding 3 number"/>
          <p:cNvSpPr/>
          <p:nvPr/>
        </p:nvSpPr>
        <p:spPr>
          <a:xfrm>
            <a:off x="5023104" y="9756648"/>
            <a:ext cx="182880" cy="182880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61" name="Finding 3"/>
          <p:cNvSpPr txBox="1"/>
          <p:nvPr/>
        </p:nvSpPr>
        <p:spPr>
          <a:xfrm>
            <a:off x="5279136" y="9729216"/>
            <a:ext cx="1862327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20" b="0">
                <a:solidFill>
                  <a:srgbClr val="FFFFFF"/>
                </a:solidFill>
                <a:latin typeface="Arial"/>
              </a:rPr>
              <a:t>Prices outran incomes when that land was sold. Since the 2019 cap the new-launch price tag is up 49%</a:t>
            </a:r>
          </a:p>
        </p:txBody>
      </p:sp>
      <p:sp>
        <p:nvSpPr>
          <p:cNvPr id="62" name="Footnote"/>
          <p:cNvSpPr txBox="1"/>
          <p:nvPr/>
        </p:nvSpPr>
        <p:spPr>
          <a:xfrm>
            <a:off x="274320" y="10222992"/>
            <a:ext cx="7013448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500" b="1">
                <a:solidFill>
                  <a:srgbClr val="6F6E69"/>
                </a:solidFill>
                <a:latin typeface="Arial"/>
              </a:rPr>
              <a:t>Data and method: </a:t>
            </a:r>
            <a:r>
              <a:rPr sz="500" b="0">
                <a:solidFill>
                  <a:srgbClr val="6F6E69"/>
                </a:solidFill>
                <a:latin typeface="Arial"/>
              </a:rPr>
              <a:t>24,131 URA private home sales in 2025 and 74,436 from Aug 2020 to Dec 2023 [1]; 155 rows outside 200–5,000 sq ft removed. Charts 2–5 use 99-year leaseholds grouped by lease-start year. Chart 7 uses the URA price index [2] and SingStat household income [3]; chart 8 applies MAS loan rules [4]. </a:t>
            </a:r>
            <a:r>
              <a:rPr sz="500" b="1">
                <a:solidFill>
                  <a:srgbClr val="6F6E69"/>
                </a:solidFill>
                <a:latin typeface="Arial"/>
              </a:rPr>
              <a:t>Limitations: </a:t>
            </a:r>
            <a:r>
              <a:rPr sz="500" b="0">
                <a:solidFill>
                  <a:srgbClr val="6F6E69"/>
                </a:solidFill>
                <a:latin typeface="Arial"/>
              </a:rPr>
              <a:t>eras are compared at 2025 prices, so older homes also carry age and lease decay; no bedroom count; 2024 missing; associations, not causal effects.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500" b="1">
                <a:solidFill>
                  <a:srgbClr val="6F6E69"/>
                </a:solidFill>
                <a:latin typeface="Arial"/>
              </a:rPr>
              <a:t>Sources: </a:t>
            </a:r>
            <a:r>
              <a:rPr sz="500" b="0">
                <a:solidFill>
                  <a:srgbClr val="6F6E69"/>
                </a:solidFill>
                <a:latin typeface="Arial"/>
              </a:rPr>
              <a:t>[1] URA REALIS via DAO2702 (2025; Lecture 6, 2020–23). [2] URA Private Residential Price Index, data.gov.sg. [3] SingStat household income, data.gov.sg. [4] MAS: TDSR 55%, 4% stress rate. [5] URA circular DC18-06 (2018). [6] ONS (2019), shrinkflation and CPIH. Code: shrinkflation.ipynb.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